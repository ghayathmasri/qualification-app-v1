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Verbatim Transcription</a:t>
            </a:r>
          </a:p>
          <a:p>
            <a:r>
              <a:t>Step-by-Step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With Examples</a:t>
            </a:r>
          </a:p>
          <a:p>
            <a:r>
              <a:t>Based on AppTek [en_US] Long-Form Transcription Guidelines v3.2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Understand the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language: English (US)</a:t>
            </a:r>
          </a:p>
          <a:p>
            <a:pPr lvl="1"/>
            <a:r>
              <a:t>Accuracy requirement: ≥ 98%</a:t>
            </a:r>
          </a:p>
          <a:p>
            <a:pPr lvl="1"/>
            <a:r>
              <a:t>One speaker per segment</a:t>
            </a:r>
          </a:p>
          <a:p>
            <a:pPr lvl="1"/>
            <a:r>
              <a:t>Transcribe exactly what is spoken, not what is intended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Segmentation (Critical)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Segment BEFORE transcription</a:t>
            </a:r>
          </a:p>
          <a:p>
            <a:pPr lvl="1"/>
            <a:r>
              <a:t>Each Speech segment = one speaker only</a:t>
            </a:r>
          </a:p>
          <a:p>
            <a:pPr lvl="1"/>
            <a:r>
              <a:t>If speakers overlap heavily → Babble segment</a:t>
            </a:r>
          </a:p>
          <a:p>
            <a:pPr lvl="1"/>
            <a:r>
              <a:t>Silence ≥ 1 second → keep segment, mark later as [no-speech]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Audio: Speaker A talks, Speaker B interrupts</a:t>
            </a:r>
          </a:p>
          <a:p>
            <a:pPr lvl="1"/>
            <a:r>
              <a:t>Create TWO Speech segments</a:t>
            </a:r>
          </a:p>
          <a:p>
            <a:pPr lvl="1"/>
            <a:r>
              <a:t>Do NOT mix speakers in one segment</a:t>
            </a:r>
          </a:p>
          <a:p>
            <a:pPr lvl="1"/>
            <a:r>
              <a:t>Overlapping part handled later with &lt;overlap&gt; tags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Allowed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Letters (A–Z, a–z)</a:t>
            </a:r>
          </a:p>
          <a:p>
            <a:pPr lvl="1"/>
            <a:r>
              <a:t>Approved punctuation: . , ? ! ' -</a:t>
            </a:r>
          </a:p>
          <a:p>
            <a:pPr lvl="1"/>
            <a:r>
              <a:t>Approved markup only</a:t>
            </a:r>
          </a:p>
          <a:p>
            <a:pPr lvl="1"/>
            <a:r>
              <a:t>Never use numerals or symbols like $, @, 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Wrong: $5, 6 + 6 = 12, test@email.com</a:t>
            </a:r>
          </a:p>
          <a:p>
            <a:pPr lvl="1"/>
            <a:r>
              <a:t>Correct: Five dollars</a:t>
            </a:r>
          </a:p>
          <a:p>
            <a:pPr lvl="1"/>
            <a:r>
              <a:t>Correct: Six plus six equals twelve</a:t>
            </a:r>
          </a:p>
          <a:p>
            <a:pPr lvl="1"/>
            <a:r>
              <a:t>Correct: Test at email dot 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Spelling &amp; Grammar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Always use standard spelling</a:t>
            </a:r>
          </a:p>
          <a:p>
            <a:pPr lvl="1"/>
            <a:r>
              <a:t>Do not correct grammar</a:t>
            </a:r>
          </a:p>
          <a:p>
            <a:pPr lvl="1"/>
            <a:r>
              <a:t>Normalize dialect pronunciation</a:t>
            </a:r>
          </a:p>
          <a:p>
            <a:pPr lvl="1"/>
            <a:r>
              <a:t>Non-standard grammar must remain unchanged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Spelling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Audio: he been done work</a:t>
            </a:r>
          </a:p>
          <a:p>
            <a:pPr lvl="1"/>
            <a:r>
              <a:t>Correct: He been done work.</a:t>
            </a:r>
          </a:p>
          <a:p>
            <a:pPr lvl="1"/>
            <a:r>
              <a:t>Audio: San Jose pronounced san-joe-say</a:t>
            </a:r>
          </a:p>
          <a:p>
            <a:pPr lvl="1"/>
            <a:r>
              <a:t>Correct: San Jose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Capitalization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Capitalize sentence starts</a:t>
            </a:r>
          </a:p>
          <a:p>
            <a:pPr lvl="1"/>
            <a:r>
              <a:t>Capitalize proper nouns</a:t>
            </a:r>
          </a:p>
          <a:p>
            <a:pPr lvl="1"/>
            <a:r>
              <a:t>Capitalize acronym words (NASA)</a:t>
            </a:r>
          </a:p>
          <a:p>
            <a:pPr lvl="1"/>
            <a:r>
              <a:t>Apply capitalization even in emails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Capitalization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Wrong: i work at nasa</a:t>
            </a:r>
          </a:p>
          <a:p>
            <a:pPr lvl="1"/>
            <a:r>
              <a:t>Correct: I work at NASA.</a:t>
            </a:r>
          </a:p>
          <a:p>
            <a:pPr lvl="1"/>
            <a:r>
              <a:t>Email: John W H Y T E at Gmail dot 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Acronyms vs Initialisms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Acronym words are spoken as words</a:t>
            </a:r>
          </a:p>
          <a:p>
            <a:pPr lvl="1"/>
            <a:r>
              <a:t>Initialisms are spoken letter-by-letter</a:t>
            </a:r>
          </a:p>
          <a:p>
            <a:pPr lvl="1"/>
            <a:r>
              <a:t>Initialisms must use &lt;initial&gt;&lt;/initial&gt; tags</a:t>
            </a:r>
          </a:p>
          <a:p>
            <a:pPr lvl="1"/>
            <a:r>
              <a:t>Inflections go outside the tag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Acronym / Initialism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NASA → NASA</a:t>
            </a:r>
          </a:p>
          <a:p>
            <a:pPr lvl="1"/>
            <a:r>
              <a:t>IBM → &lt;initial&gt;IBM&lt;/initial&gt;</a:t>
            </a:r>
          </a:p>
          <a:p>
            <a:pPr lvl="1"/>
            <a:r>
              <a:t>IDs → &lt;initial&gt;ID&lt;/initial&gt;s</a:t>
            </a:r>
          </a:p>
          <a:p>
            <a:pPr lvl="1"/>
            <a:r>
              <a:t>SSHed → &lt;initial&gt;SSH&lt;/initial&gt;ed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Always spell out numbers</a:t>
            </a:r>
          </a:p>
          <a:p>
            <a:pPr lvl="1"/>
            <a:r>
              <a:t>Match pronunciation exactly</a:t>
            </a:r>
          </a:p>
          <a:p>
            <a:pPr lvl="1"/>
            <a:r>
              <a:t>Hyphenate twenty-one to ninety-nine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Audio: 306</a:t>
            </a:r>
          </a:p>
          <a:p>
            <a:pPr lvl="1"/>
            <a:r>
              <a:t>Correct: Three oh six / Three hundred and six</a:t>
            </a:r>
          </a:p>
          <a:p>
            <a:pPr lvl="1"/>
            <a:r>
              <a:t>Audio: 1-888-280-4331</a:t>
            </a:r>
          </a:p>
          <a:p>
            <a:pPr lvl="1"/>
            <a:r>
              <a:t>Correct: One triple eight two eight oh dash four three three 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Disfluent Speech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Repetitions must be transcribed</a:t>
            </a:r>
          </a:p>
          <a:p>
            <a:pPr lvl="1"/>
            <a:r>
              <a:t>Use tilde (~) for truncated words</a:t>
            </a:r>
          </a:p>
          <a:p>
            <a:pPr lvl="1"/>
            <a:r>
              <a:t>Filler words require hashtag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Disfluency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Audio: I I I didn't know</a:t>
            </a:r>
          </a:p>
          <a:p>
            <a:pPr lvl="1"/>
            <a:r>
              <a:t>Correct: I I I didn't know.</a:t>
            </a:r>
          </a:p>
          <a:p>
            <a:pPr lvl="1"/>
            <a:r>
              <a:t>Audio: mu… music</a:t>
            </a:r>
          </a:p>
          <a:p>
            <a:pPr lvl="1"/>
            <a:r>
              <a:t>Correct: mu~ music</a:t>
            </a:r>
          </a:p>
          <a:p>
            <a:pPr lvl="1"/>
            <a:r>
              <a:t>Audio: uh um</a:t>
            </a:r>
          </a:p>
          <a:p>
            <a:pPr lvl="1"/>
            <a:r>
              <a:t>Correct: #uh #um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Speakers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speaker per segment</a:t>
            </a:r>
          </a:p>
          <a:p>
            <a:pPr lvl="1"/>
            <a:r>
              <a:t>Use [other-speech] for non-overlapping interference</a:t>
            </a:r>
          </a:p>
          <a:p>
            <a:pPr lvl="1"/>
            <a:r>
              <a:t>Use &lt;overlap&gt;&lt;/overlap&gt; for overlapping speech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Overlap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Speaker A: I was saying—</a:t>
            </a:r>
          </a:p>
          <a:p>
            <a:pPr lvl="1"/>
            <a:r>
              <a:t>Speaker B overlaps</a:t>
            </a:r>
          </a:p>
          <a:p>
            <a:pPr lvl="1"/>
            <a:r>
              <a:t>Speaker A transcript: &lt;overlap&gt;I was saying&lt;/overlap&gt;</a:t>
            </a:r>
          </a:p>
          <a:p>
            <a:pPr lvl="1"/>
            <a:r>
              <a:t>Speaker B transcript in separate segment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Unintelligible Speech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double parentheses (())</a:t>
            </a:r>
          </a:p>
          <a:p>
            <a:pPr lvl="1"/>
            <a:r>
              <a:t>Guess only if reasonably confident</a:t>
            </a:r>
          </a:p>
          <a:p>
            <a:pPr lvl="1"/>
            <a:r>
              <a:t>Never leave unintelligible speech unmarked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Unintelligible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Audio unclear</a:t>
            </a:r>
          </a:p>
          <a:p>
            <a:pPr lvl="1"/>
            <a:r>
              <a:t>Correct: Alexa, play (()) on Spotify.</a:t>
            </a:r>
          </a:p>
          <a:p>
            <a:pPr lvl="1"/>
            <a:r>
              <a:t>Confident guess: Alexa, play ((Cat In The Hat)).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Non-Target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&lt;lang:Language&gt; tags for code-switching</a:t>
            </a:r>
          </a:p>
          <a:p>
            <a:pPr lvl="1"/>
            <a:r>
              <a:t>If unknown language → &lt;lang:Foreign&gt;(())&lt;/lang:Foreign&gt;</a:t>
            </a:r>
          </a:p>
          <a:p>
            <a:pPr lvl="1"/>
            <a:r>
              <a:t>Do not tag loanwords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Language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have to finish &lt;lang:Spanish&gt;todo esto&lt;/lang:Spanish&gt;.</a:t>
            </a:r>
          </a:p>
          <a:p>
            <a:pPr lvl="1"/>
            <a:r>
              <a:t>Loanword example: tacos (NO tag)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Non-Speech Sounds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square-bracket tags</a:t>
            </a:r>
          </a:p>
          <a:p>
            <a:pPr lvl="1"/>
            <a:r>
              <a:t>Insert at exact location</a:t>
            </a:r>
          </a:p>
          <a:p>
            <a:pPr lvl="1"/>
            <a:r>
              <a:t>Repeated sounds → tag once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Non-Speech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 will [cough] continue now.</a:t>
            </a:r>
          </a:p>
          <a:p>
            <a:pPr lvl="1"/>
            <a:r>
              <a:t>Wait [click] there.</a:t>
            </a:r>
          </a:p>
          <a:p>
            <a:pPr lvl="1"/>
            <a:r>
              <a:t>Pause → [no-speech]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Quality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Spell-check complete transcript</a:t>
            </a:r>
          </a:p>
          <a:p>
            <a:pPr lvl="1"/>
            <a:r>
              <a:t>Verify segmentation</a:t>
            </a:r>
          </a:p>
          <a:p>
            <a:pPr lvl="1"/>
            <a:r>
              <a:t>Validate all tag pairs</a:t>
            </a:r>
          </a:p>
          <a:p>
            <a:pPr lvl="1"/>
            <a:r>
              <a:t>Confirm ≥ 98% accuracy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